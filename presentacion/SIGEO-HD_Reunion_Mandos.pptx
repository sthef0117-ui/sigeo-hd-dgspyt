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512000"/>
            <a:ext cx="86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HOMICIDIOS DOLOSOS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304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0526F"/>
                </a:solidFill>
                <a:latin typeface="Segoe UI"/>
              </a:rPr>
              <a:t>Análisis de corte · Enero–agosto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096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C9"/>
                </a:solidFill>
                <a:latin typeface="Segoe UI"/>
              </a:rPr>
              <a:t>Dirección General de Seguridad Pública y Tránsito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C9"/>
                </a:solidFill>
                <a:latin typeface="Segoe UI"/>
              </a:rPr>
              <a:t>Unidad de Homicidios Dolosos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544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96573"/>
                </a:solidFill>
                <a:latin typeface="Segoe UI"/>
              </a:rPr>
              <a:t>Documento de trabajo interno · generado 2026-08-13 07:58 · cifras sin validar por las áreas responsables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Panorama del corte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76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9C0C9"/>
                </a:solidFill>
                <a:latin typeface="Segoe UI"/>
              </a:rPr>
              <a:t>218 horas de operación C5 · 36,672 llamadas · 78 municipios con homicidio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0" y="32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E0526F"/>
                </a:solidFill>
                <a:latin typeface="Segoe UI"/>
              </a:rPr>
              <a:t>SIGEO-HD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260000"/>
            <a:ext cx="2664000" cy="14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385999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A94A2"/>
                </a:solidFill>
                <a:latin typeface="Segoe UI"/>
              </a:rPr>
              <a:t>HOMICIDIOS DOLOSOS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1620000"/>
            <a:ext cx="230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A1327"/>
                </a:solidFill>
                <a:latin typeface="Segoe UI"/>
              </a:rPr>
              <a:t>560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2160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6573"/>
                </a:solidFill>
                <a:latin typeface="Segoe UI"/>
              </a:rPr>
              <a:t>617 víctimas fatales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4000" y="1260000"/>
            <a:ext cx="2664000" cy="14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000" y="1385999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A94A2"/>
                </a:solidFill>
                <a:latin typeface="Segoe UI"/>
              </a:rPr>
              <a:t>EN FRANJA NOCTURNA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000" y="1620000"/>
            <a:ext cx="230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C1121F"/>
                </a:solidFill>
                <a:latin typeface="Segoe UI"/>
              </a:rPr>
              <a:t>263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000" y="2160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6573"/>
                </a:solidFill>
                <a:latin typeface="Segoe UI"/>
              </a:rPr>
              <a:t>47% entre 22:00 y 06:00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000" y="1260000"/>
            <a:ext cx="2664000" cy="14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1385999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A94A2"/>
                </a:solidFill>
                <a:latin typeface="Segoe UI"/>
              </a:rPr>
              <a:t>DISTANCIA A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000" y="1620000"/>
            <a:ext cx="230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202C"/>
                </a:solidFill>
                <a:latin typeface="Segoe UI"/>
              </a:rPr>
              <a:t>2.39 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2160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6573"/>
                </a:solidFill>
                <a:latin typeface="Segoe UI"/>
              </a:rPr>
              <a:t>mediana · 211 a más de 3 km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8000" y="1260000"/>
            <a:ext cx="2664000" cy="14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000" y="1385999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A94A2"/>
                </a:solidFill>
                <a:latin typeface="Segoe UI"/>
              </a:rPr>
              <a:t>PERSONAL DESPLEGADO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000" y="1620000"/>
            <a:ext cx="230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766E"/>
                </a:solidFill>
                <a:latin typeface="Segoe UI"/>
              </a:rPr>
              <a:t>10,877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000" y="2160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6573"/>
                </a:solidFill>
                <a:latin typeface="Segoe UI"/>
              </a:rPr>
              <a:t>en 167 bases en uso</a:t>
            </a:r>
          </a:p>
        </p:txBody>
      </p:sp>
      <p:pic>
        <p:nvPicPr>
          <p:cNvPr id="22" name="Picture 21" descr="d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951999"/>
            <a:ext cx="10980000" cy="2928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32000" y="619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96573"/>
                </a:solidFill>
                <a:latin typeface="Segoe UI"/>
              </a:rPr>
              <a:t>Homicidios dolosos corroborados por día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Carga por coordinación regional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76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9C0C9"/>
                </a:solidFill>
                <a:latin typeface="Segoe UI"/>
              </a:rPr>
              <a:t>La columna que decide: carga de violencia por cada 100 elementos adscritos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0" y="32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E0526F"/>
                </a:solidFill>
                <a:latin typeface="Segoe UI"/>
              </a:rPr>
              <a:t>SIGEO-HD</a:t>
            </a:r>
          </a:p>
        </p:txBody>
      </p:sp>
      <p:pic>
        <p:nvPicPr>
          <p:cNvPr id="6" name="Picture 5" descr="car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96000"/>
            <a:ext cx="5400000" cy="326842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48000" y="1296000"/>
          <a:ext cx="5400000" cy="209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000"/>
                <a:gridCol w="702000"/>
                <a:gridCol w="594000"/>
                <a:gridCol w="1080000"/>
                <a:gridCol w="972000"/>
              </a:tblGrid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Coordinación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Mpios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HD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Personal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/100 el.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Metropolitana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1,590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219.0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Ecatepec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163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1,841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162.0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Oriente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2,047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99.8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Valle Toluca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1,498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122.2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Chalco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66.4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Atlacomulco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780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56.3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Ixtapan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44.4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Valle de Bravo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443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35.4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2000" y="5616000"/>
            <a:ext cx="109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6573"/>
                </a:solidFill>
                <a:latin typeface="Segoe UI"/>
              </a:rPr>
              <a:t>Mide condiciones del territorio, no el desempeño de una persona: los insumos no contienen asignación nominal de mando, turnos ni recorridos.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6573"/>
                </a:solidFill>
                <a:latin typeface="Segoe UI"/>
              </a:rPr>
              <a:t>22 de los 108 municipios se clasificaron por vecindad territorial al no tener inmueble propio en el inventario.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¿Por qué no se patrulla ahí?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76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9C0C9"/>
                </a:solidFill>
                <a:latin typeface="Segoe UI"/>
              </a:rPr>
              <a:t>604 sectores con violencia registrada · 227 desatendidos · 95 saturados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0" y="32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E0526F"/>
                </a:solidFill>
                <a:latin typeface="Segoe UI"/>
              </a:rPr>
              <a:t>SIGEO-HD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224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1121F"/>
                </a:solidFill>
                <a:latin typeface="Segoe UI"/>
              </a:rPr>
              <a:t>EXTENDER COBERTURA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512000"/>
          <a:ext cx="5400000" cy="209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000"/>
                <a:gridCol w="972000"/>
                <a:gridCol w="1026000"/>
                <a:gridCol w="972000"/>
              </a:tblGrid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Municipio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Índice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Base a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Personal 3 km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Naucalpan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336.2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4.59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Tultepec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326.0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5.21 km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Teoloyucan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320.1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3.74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Naucalpan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317.3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3.36 km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Cuautitlan Izcalli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297.4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3.92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Chicoloapan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276.3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3.82 km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240.0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6.48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Ecatepec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225.0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3.06 km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48000" y="1224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309"/>
                </a:solidFill>
                <a:latin typeface="Segoe UI"/>
              </a:rPr>
              <a:t>REVISAR EL PATRULLAJE QUE YA EXISTE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48000" y="1512000"/>
          <a:ext cx="5400000" cy="209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000"/>
                <a:gridCol w="972000"/>
                <a:gridCol w="1026000"/>
                <a:gridCol w="972000"/>
              </a:tblGrid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Municipio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Violencia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Base a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Personal 3 km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Ecatepec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252.0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0.32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La Paz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175.5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0.65 km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149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Cuautitlan Izcalli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172.0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0.99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Chalco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169.0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0.94 km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297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Valle de Chalco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123.0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1.48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Ecatepec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122.0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0.36 km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229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Ecatepec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1.14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Ecatepec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6202C"/>
                          </a:solidFill>
                          <a:latin typeface="Segoe UI"/>
                        </a:rPr>
                        <a:t>115.5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1.17 km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6202C"/>
                          </a:solidFill>
                          <a:latin typeface="Segoe UI"/>
                        </a:rPr>
                        <a:t>99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2000" y="5688000"/>
            <a:ext cx="10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6573"/>
                </a:solidFill>
                <a:latin typeface="Segoe UI"/>
              </a:rPr>
              <a:t>Izquierda: hay violencia y no hay despliegue a distancia útil. Procede extender cobertura o reasignar cuadrante.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6573"/>
                </a:solidFill>
                <a:latin typeface="Segoe UI"/>
              </a:rPr>
              <a:t>Derecha: hay base y personal a menos de 1.5 km y aun así concentra violencia. Procede revisar efectividad y horarios, no sumar inmuebles.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Decesos dudosos, suicidios y personas no localizadas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76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9C0C9"/>
                </a:solidFill>
                <a:latin typeface="Segoe UI"/>
              </a:rPr>
              <a:t>487 casos auditados · 64 de prioridad 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0" y="32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E0526F"/>
                </a:solidFill>
                <a:latin typeface="Segoe UI"/>
              </a:rPr>
              <a:t>SIGEO-HD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260000"/>
          <a:ext cx="10980000" cy="23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000"/>
                <a:gridCol w="1537200"/>
                <a:gridCol w="2635200"/>
                <a:gridCol w="658800"/>
                <a:gridCol w="4501800"/>
              </a:tblGrid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Folio C5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Municipio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Clasificación de origen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Pts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Motivo de revisión</a:t>
                      </a:r>
                    </a:p>
                  </a:txBody>
                  <a:tcPr>
                    <a:solidFill>
                      <a:srgbClr val="16202C"/>
                    </a:solidFill>
                  </a:tcPr>
                </a:tc>
              </a:tr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ECA26072506441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6202C"/>
                          </a:solidFill>
                          <a:latin typeface="Segoe UI"/>
                        </a:rPr>
                        <a:t>Acolman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Persona Tirada en la Via Publica con Huellas de Violencia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El propio catálogo C5 lo clasifica con huellas de violencia; La cabina registra arma de fu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TOL26072508570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6202C"/>
                          </a:solidFill>
                          <a:latin typeface="Segoe UI"/>
                        </a:rPr>
                        <a:t>Naucalpan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Homicidio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Participación de terceros referida por el reportante; Arma blanca o herida punzocortante 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ECA26072709061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6202C"/>
                          </a:solidFill>
                          <a:latin typeface="Segoe UI"/>
                        </a:rPr>
                        <a:t>Tlalnepantla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Persona Tirada en la Via Publica con Huellas de Violencia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El propio catálogo C5 lo clasifica con huellas de violencia; Sangrado o lesiones visibles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ECA26080201414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6202C"/>
                          </a:solidFill>
                          <a:latin typeface="Segoe UI"/>
                        </a:rPr>
                        <a:t>Chalco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Persona Tirada en Via Publica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Indicios de traslado u ocultamiento del cuerpo; Participación de terceros referida por el 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ECA26080201520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6202C"/>
                          </a:solidFill>
                          <a:latin typeface="Segoe UI"/>
                        </a:rPr>
                        <a:t>Ecatepec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Persona Tirada en la Via Publica con Huellas de Violencia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El propio catálogo C5 lo clasifica con huellas de violencia; Sangrado o lesiones visibles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TOL26080407311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6202C"/>
                          </a:solidFill>
                          <a:latin typeface="Segoe UI"/>
                        </a:rPr>
                        <a:t>Zinacantepec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Persona Tirada en la Via Publica con Huellas de Violencia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El propio catálogo C5 lo clasifica con huellas de violencia; Indicios de traslado u oculta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TOL26072506555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6202C"/>
                          </a:solidFill>
                          <a:latin typeface="Segoe UI"/>
                        </a:rPr>
                        <a:t>Naucalpan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Persona Tirada en la Via Publica con Huellas de Violencia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El propio catálogo C5 lo clasifica con huellas de violencia; Sangrado o lesiones visibles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ECA26072508203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6202C"/>
                          </a:solidFill>
                          <a:latin typeface="Segoe UI"/>
                        </a:rPr>
                        <a:t>Chimalhuacan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Homicidio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La cabina registra arma de fuego, disparo o impacto; Sangrado o lesiones visibles descrita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3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ECA26072707150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6202C"/>
                          </a:solidFill>
                          <a:latin typeface="Segoe UI"/>
                        </a:rPr>
                        <a:t>Chimalhuacan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Persona Tirada en la Via Publica con Huellas de Violencia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202C"/>
                          </a:solidFill>
                          <a:latin typeface="Segoe UI"/>
                        </a:rPr>
                        <a:t>El propio catálogo C5 lo clasifica con huellas de violencia; Sangrado o lesiones visibles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5544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6573"/>
                </a:solidFill>
                <a:latin typeface="Segoe UI"/>
              </a:rPr>
              <a:t>Es una prioridad de revisión documental, no un dictamen pericial. La determinación de la mecánica de los hechos corresponde a los servicios periciales y a la FGJEM. Cada caso muestra los indicadores exactos que elevaron su prioridad, para que el criterio sea auditable.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Acuerdos propuestos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76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9C0C9"/>
                </a:solidFill>
                <a:latin typeface="Segoe UI"/>
              </a:rPr>
              <a:t>Para la reunión de mandos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0" y="32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E0526F"/>
                </a:solidFill>
                <a:latin typeface="Segoe UI"/>
              </a:rPr>
              <a:t>SIGEO-HD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1368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A1327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1404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6202C"/>
                </a:solidFill>
                <a:latin typeface="Segoe UI"/>
              </a:rPr>
              <a:t>Extender cobertura o reasignar cuadrante en los 227 sectores desatendidos, priorizando Naucalpan, Tultepec, Teoloyucan.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214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A1327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25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6202C"/>
                </a:solidFill>
                <a:latin typeface="Segoe UI"/>
              </a:rPr>
              <a:t>Revisar efectividad y horarios del patrullaje en los 95 sectores saturados, donde ya hay base y personal a menos de 1.5 km.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3060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A1327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096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6202C"/>
                </a:solidFill>
                <a:latin typeface="Segoe UI"/>
              </a:rPr>
              <a:t>Solicitar a la FGJEM las carpetas de los 64 casos de prioridad alta y turnarlos a Criminalística.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999" y="3906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A1327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942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6202C"/>
                </a:solidFill>
                <a:latin typeface="Segoe UI"/>
              </a:rPr>
              <a:t>Instruir a cabina C5 la captura obligatoria del campo de referencia de ubicación: es lo que permite recuperar el 97.8% de las llamadas con violencia que llegan sin coordenada.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4752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7A1327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4788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6202C"/>
                </a:solidFill>
                <a:latin typeface="Segoe UI"/>
              </a:rPr>
              <a:t>Completar el personal adscrito en el inventario de inmuebles: sin ese dato la medición de cobertura subestima el despliegue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5903999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4A2"/>
                </a:solidFill>
                <a:latin typeface="Segoe UI"/>
              </a:rPr>
              <a:t>Cifras reproducibles con  python src/etl_sigeo.py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