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12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HOMICIDIOS DOLOSOS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304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0526F"/>
                </a:solidFill>
                <a:latin typeface="Segoe UI"/>
              </a:rPr>
              <a:t>Análisis de corte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96000"/>
            <a:ext cx="93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Dirección General de Seguridad Pública y Tránsito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Unidad de Homicidios Dolosos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4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96573"/>
                </a:solidFill>
                <a:latin typeface="Segoe UI"/>
              </a:rPr>
              <a:t>Documento de trabajo interno · generado 2026-07-28 19:19 · cifras sin validar por las áreas responsables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Panorama del corte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120 horas de operación C5 · 22,811 llamadas · 27 municipios con homicidio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HOMICIDIOS DOLOSOS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7A1327"/>
                </a:solidFill>
                <a:latin typeface="Segoe UI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63 víctimas fatales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4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EN FRANJA NOCTURNA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1121F"/>
                </a:solidFill>
                <a:latin typeface="Segoe UI"/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55% entre 22:00 y 06:00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DISTANCIA 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6202C"/>
                </a:solidFill>
                <a:latin typeface="Segoe UI"/>
              </a:rPr>
              <a:t>1.9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mediana · 14 a más de 3 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8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PERSONAL DESPLEGADO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Segoe UI"/>
              </a:rPr>
              <a:t>10,877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en 167 bases en uso</a:t>
            </a:r>
          </a:p>
        </p:txBody>
      </p:sp>
      <p:pic>
        <p:nvPicPr>
          <p:cNvPr id="22" name="Picture 21" descr="d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951999"/>
            <a:ext cx="10980000" cy="292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2000" y="619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573"/>
                </a:solidFill>
                <a:latin typeface="Segoe UI"/>
              </a:rPr>
              <a:t>Homicidios dolosos corroborados por día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Carga por coordinación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La columna que decide: carga de violencia por cada 100 elementos adscritos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pic>
        <p:nvPicPr>
          <p:cNvPr id="6" name="Picture 5" descr="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96000"/>
            <a:ext cx="5400000" cy="326842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48000" y="1296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000"/>
                <a:gridCol w="702000"/>
                <a:gridCol w="594000"/>
                <a:gridCol w="1080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Coordinación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Mpios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HD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/100 el.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1,841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51.7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Oriente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2,047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34.1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1,643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Atlacomulco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780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19.2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Ixtapan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Bravo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443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14.2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2000" y="5616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Mide condiciones del territorio, no el desempeño de una persona: los insumos no contienen asignación nominal de mando, turnos ni recorridos.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22 de los 108 municipios se clasificaron por vecindad territorial al no tener inmueble propio en el inventario.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¿Por qué no se patrulla ahí?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363 sectores con violencia registrada · 78 desatendidos · 43 saturados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1121F"/>
                </a:solidFill>
                <a:latin typeface="Segoe UI"/>
              </a:rPr>
              <a:t>EXTENDER COBERTURA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2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Índice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3.36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150.4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4.14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105.5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4.59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Tultepec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5.41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94.2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4.17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3.02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89.2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3.49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48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Segoe UI"/>
              </a:rPr>
              <a:t>REVISAR EL PATRULLAJE QUE YA EXISTE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48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Violencia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69.5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0.93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68.0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64.0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1.12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698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La Paz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61.0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0.65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59.5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229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57.0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55.5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0.47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5688000"/>
            <a:ext cx="109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Izquierda: hay violencia y no hay despliegue a distancia útil. Procede extender cobertura o reasignar cuadrante.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Derecha: hay base y personal a menos de 1.5 km y aun así concentra violencia. Procede revisar efectividad y horarios, no sumar inmuebles.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Decesos dudosos, suicidios y personas no localizadas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247 casos auditados · 20 de prioridad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260000"/>
          <a:ext cx="10980000" cy="23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000"/>
                <a:gridCol w="1537200"/>
                <a:gridCol w="2635200"/>
                <a:gridCol w="658800"/>
                <a:gridCol w="4501800"/>
              </a:tblGrid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Folio C5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Clasificación de origen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Pts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Motivo de revisión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ECA26072506441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Acolman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La cabina registra arma de fu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TOL26072508570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Participación de terceros referida por el reportante; Arma blanca o herida punzocortante 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ECA26072709061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TOL26072506555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ECA26072505767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Ixtapaluca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ECA26072508203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Chimalhuacan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La cabina registra arma de fuego, disparo o impacto; Sangrado o lesiones visibles descrita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ECA26072606817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Nextlalpan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No Localizada O Desaparecida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La cabina registra arma de fuego, disparo o impacto; Participación de terceros referida 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ECA26072700675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Tecamac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Amenaza de Suicidio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Antecedente de violencia de pareja o familiar en el propio reporte; Arma blanca o herida p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TOL26072702143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Indicios de traslado u ocultamiento del cuerpo; Persona sin signos vitales al arribo; A 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09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Es una prioridad de revisión documental, no un dictamen pericial. La determinación de la mecánica de los hechos corresponde a los servicios periciales y a la FGJEM. Cada caso muestra los indicadores exactos que elevaron su prioridad, para que el criterio sea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Acuerdos propuestos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Para la reunión de mandos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68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404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Extender cobertura o reasignar cuadrante en los 78 sectores desatendidos, priorizando Naucalpan, Toluca.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14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25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Revisar efectividad y horarios del patrullaje en los 43 sectores saturados, donde ya hay base y personal a menos de 1.5 km.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3060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3096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Solicitar a la FGJEM las carpetas de los 20 casos de prioridad alta y turnarlos a Criminalística.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3906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942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Instruir a cabina C5 la captura obligatoria del campo de referencia de ubicación: es lo que permite recuperar el 96.3% de las llamadas con violencia que llegan sin coordenada.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4752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788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Completar el personal adscrito en el inventario de inmuebles: sin ese dato la medición de cobertura subestima el despliegue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5903999"/>
            <a:ext cx="10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4A2"/>
                </a:solidFill>
                <a:latin typeface="Segoe UI"/>
              </a:rPr>
              <a:t>Cifras reproducibles con  python src/etl_sigeo.py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